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-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300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draft-jiang-wimse-heterogeneous-credential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draft-jiang-wimse-heterogeneous-credential/" TargetMode="External"/><Relationship Id="rId7" Type="http://schemas.openxmlformats.org/officeDocument/2006/relationships/hyperlink" Target="https://github.com/The-Architect-3906/Heterogeneous-Credential-Verifier-and-Aggregator/releases/latest/download/tool2-demo-linux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The-Architect-3906/Heterogeneous-Credential-Verifier-and-Aggregator/releases/latest/download/tool2-demo-macos" TargetMode="External"/><Relationship Id="rId5" Type="http://schemas.openxmlformats.org/officeDocument/2006/relationships/hyperlink" Target="https://github.com/The-Architect-3906/Heterogeneous-Credential-Verifier-and-Aggregator/releases/latest/download/tool2-demo-windows.exe" TargetMode="External"/><Relationship Id="rId4" Type="http://schemas.openxmlformats.org/officeDocument/2006/relationships/hyperlink" Target="https://github.com/agent-security-labs/wimse-heterogeneous-credential-draf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452360" y="457200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452360" y="4572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IETF126 - Hackathon - Talk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80">
                <a:solidFill>
                  <a:srgbClr val="828EA0"/>
                </a:solidFill>
                <a:latin typeface="Calibri"/>
              </a:rPr>
              <a:t>1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Many Credentials: a Heterogeneous Credential Verifier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each credential's type, routing it to the right verifier, and combining the results into one decision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C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400" i="1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draft-jiang-wimse-heterogeneous-credential-01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 Yuning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589520" y="45720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589520" y="4572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IETF126 - Hackathon - Talk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80">
                <a:solidFill>
                  <a:srgbClr val="828EA0"/>
                </a:solidFill>
                <a:latin typeface="Calibri"/>
              </a:rPr>
              <a:t>2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4389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>
                <a:solidFill>
                  <a:srgbClr val="1C2B3A"/>
                </a:solidFill>
                <a:latin typeface="Calibri"/>
              </a:rPr>
              <a:t>Why this matters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3977640" cy="1572768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188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50" b="1">
                <a:solidFill>
                  <a:srgbClr val="1C2B3A"/>
                </a:solidFill>
                <a:latin typeface="Calibri"/>
              </a:rPr>
              <a:t>One request, many credential types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148132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 b="0">
                <a:solidFill>
                  <a:srgbClr val="3C4657"/>
                </a:solidFill>
                <a:latin typeface="Calibri"/>
              </a:rPr>
              <a:t>An agent or workload may present a workload identity token, OAuth token, VC/VP, X.509 certificate, EAT, or API key in the same request. Each credential has its own verifier and trust semantics.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78992"/>
            <a:ext cx="3977640" cy="1572768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50" b="1">
                <a:solidFill>
                  <a:srgbClr val="1C2B3A"/>
                </a:solidFill>
                <a:latin typeface="Calibri"/>
              </a:rPr>
              <a:t>The receiver still needs one decision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 b="0">
                <a:solidFill>
                  <a:srgbClr val="3C4657"/>
                </a:solidFill>
                <a:latin typeface="Calibri"/>
              </a:rPr>
              <a:t>The relying party must identify each credential's type, determine the right verifier, interpret different outputs consistently, and decide how to handle the request.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0">
                <a:solidFill>
                  <a:srgbClr val="3C4657"/>
                </a:solidFill>
                <a:latin typeface="Calibri"/>
              </a:rPr>
              <a:t>What we built — one processing path: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2514600" cy="841248"/>
          </a:xfrm>
          <a:prstGeom prst="rect">
            <a:avLst/>
          </a:prstGeom>
          <a:solidFill>
            <a:srgbClr val="E8EEF7"/>
          </a:solidFill>
          <a:ln w="12700">
            <a:solidFill>
              <a:srgbClr val="9DB2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2920" y="3227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C2B3A"/>
                </a:solidFill>
                <a:latin typeface="Calibri"/>
              </a:rPr>
              <a:t>Receiver / RP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" y="351129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3C4657"/>
                </a:solidFill>
                <a:latin typeface="Calibri"/>
              </a:rPr>
              <a:t>receives the request + credential set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3154680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64992" y="3154680"/>
            <a:ext cx="2514600" cy="841248"/>
          </a:xfrm>
          <a:prstGeom prst="rect">
            <a:avLst/>
          </a:prstGeom>
          <a:solidFill>
            <a:srgbClr val="E8EEF7"/>
          </a:solidFill>
          <a:ln w="12700">
            <a:solidFill>
              <a:srgbClr val="9DB2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364992" y="3227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C2B3A"/>
                </a:solidFill>
                <a:latin typeface="Calibri"/>
              </a:rPr>
              <a:t>Credential set 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38144" y="351129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3C4657"/>
                </a:solidFill>
                <a:latin typeface="Calibri"/>
              </a:rPr>
              <a:t>identify type · choose verifier · verify · normalize result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79592" y="3154680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27064" y="3154680"/>
            <a:ext cx="2514600" cy="841248"/>
          </a:xfrm>
          <a:prstGeom prst="rect">
            <a:avLst/>
          </a:prstGeom>
          <a:solidFill>
            <a:srgbClr val="E8EEF7"/>
          </a:solidFill>
          <a:ln w="12700">
            <a:solidFill>
              <a:srgbClr val="9DB2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227064" y="3227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C2B3A"/>
                </a:solidFill>
                <a:latin typeface="Calibri"/>
              </a:rPr>
              <a:t>Decision policy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0216" y="351129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0">
                <a:solidFill>
                  <a:srgbClr val="3C4657"/>
                </a:solidFill>
                <a:latin typeface="Calibri"/>
              </a:rPr>
              <a:t>allow · constrain · step-up · deny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224528"/>
            <a:ext cx="7498080" cy="420624"/>
          </a:xfrm>
          <a:prstGeom prst="roundRect">
            <a:avLst>
              <a:gd name="adj" fmla="val 10870"/>
            </a:avLst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22960" y="422452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C2B3A"/>
                </a:solidFill>
                <a:latin typeface="Calibri"/>
              </a:rPr>
              <a:t>A mixed credential set becomes one explainable handling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680960" y="457200"/>
            <a:ext cx="960120" cy="402336"/>
          </a:xfrm>
          <a:prstGeom prst="roundRect">
            <a:avLst>
              <a:gd name="adj" fmla="val 18182"/>
            </a:avLst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680960" y="45720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IETF126 - Hackathon - Talk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80">
                <a:solidFill>
                  <a:srgbClr val="828EA0"/>
                </a:solidFill>
                <a:latin typeface="Calibri"/>
              </a:rPr>
              <a:t>3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4389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300" b="1">
                <a:solidFill>
                  <a:srgbClr val="1C2B3A"/>
                </a:solidFill>
                <a:latin typeface="Calibri"/>
              </a:rPr>
              <a:t>Implementation: nine request credential sets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0">
                <a:solidFill>
                  <a:srgbClr val="3C4657"/>
                </a:solidFill>
                <a:latin typeface="Calibri"/>
              </a:rPr>
              <a:t>Nine sample request credential sets show different credential mixes. Selecting one runs the processing path and shows the outcome: accept, reject, degrade, or request-more.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" y="1536192"/>
            <a:ext cx="8211312" cy="2732681"/>
          </a:xfrm>
          <a:prstGeom prst="roundRect">
            <a:avLst>
              <a:gd name="adj" fmla="val 1004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C:\Users\Architect117\AppData\Local\Temp\claude\C--Users-Architect117-Heterogeneous-Credential-Verifier-and-Aggregator--claude-worktrees-wonderful-ride-dc9987\bec2816e-37be-431f-887f-0cee765fc7ef\scratchpad\deck\img\01b-fl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265952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50" b="0">
                <a:solidFill>
                  <a:srgbClr val="3C4657"/>
                </a:solidFill>
                <a:latin typeface="Calibri"/>
              </a:rPr>
              <a:t>Each run first identifies the credential type, then routes it to the right verifier. Signature and status checks are real; the final decision is produced from normalized results.</a:t>
            </a:r>
            <a:endParaRPr lang="en-US" sz="1150" dirty="0"/>
          </a:p>
        </p:txBody>
      </p:sp>
      <p:sp>
        <p:nvSpPr>
          <p:cNvPr id="12" name="Rectangle 11"/>
          <p:cNvSpPr/>
          <p:nvPr/>
        </p:nvSpPr>
        <p:spPr>
          <a:xfrm>
            <a:off x="1463040" y="2093976"/>
            <a:ext cx="132588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81328" y="2089404"/>
            <a:ext cx="1325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>
                <a:solidFill>
                  <a:srgbClr val="758599"/>
                </a:solidFill>
                <a:latin typeface="Calibri"/>
              </a:rPr>
              <a:t>2 credentials in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2093976"/>
            <a:ext cx="132588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2089404"/>
            <a:ext cx="1325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>
                <a:solidFill>
                  <a:srgbClr val="758599"/>
                </a:solidFill>
                <a:latin typeface="Calibri"/>
              </a:rPr>
              <a:t>2 credentials in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2093976"/>
            <a:ext cx="132588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089404"/>
            <a:ext cx="1325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>
                <a:solidFill>
                  <a:srgbClr val="758599"/>
                </a:solidFill>
                <a:latin typeface="Calibri"/>
              </a:rPr>
              <a:t>2 credentials in 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172968"/>
            <a:ext cx="132588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81328" y="3168396"/>
            <a:ext cx="1325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>
                <a:solidFill>
                  <a:srgbClr val="758599"/>
                </a:solidFill>
                <a:latin typeface="Calibri"/>
              </a:rPr>
              <a:t>2 credentials in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7952" y="2926080"/>
            <a:ext cx="132588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2921508"/>
            <a:ext cx="1325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>
                <a:solidFill>
                  <a:srgbClr val="758599"/>
                </a:solidFill>
                <a:latin typeface="Calibri"/>
              </a:rPr>
              <a:t>2 credentials in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005072"/>
            <a:ext cx="132588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81328" y="4000500"/>
            <a:ext cx="1325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>
                <a:solidFill>
                  <a:srgbClr val="758599"/>
                </a:solidFill>
                <a:latin typeface="Calibri"/>
              </a:rPr>
              <a:t>2 credentials in 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7952" y="4005072"/>
            <a:ext cx="1325880" cy="16459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4000500"/>
            <a:ext cx="1325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>
                <a:solidFill>
                  <a:srgbClr val="758599"/>
                </a:solidFill>
                <a:latin typeface="Calibri"/>
              </a:rPr>
              <a:t>2 credentials in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1152" y="4005072"/>
            <a:ext cx="132588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4000500"/>
            <a:ext cx="1325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>
                <a:solidFill>
                  <a:srgbClr val="758599"/>
                </a:solidFill>
                <a:latin typeface="Calibri"/>
              </a:rPr>
              <a:t>2 credentials in 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37376" y="3163824"/>
            <a:ext cx="19202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46520" y="3168396"/>
            <a:ext cx="749808" cy="182880"/>
          </a:xfrm>
          <a:prstGeom prst="roundRect">
            <a:avLst/>
          </a:prstGeom>
          <a:solidFill>
            <a:srgbClr val="F0DDFF"/>
          </a:solidFill>
          <a:ln>
            <a:solidFill>
              <a:srgbClr val="F0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720" b="1">
                <a:solidFill>
                  <a:srgbClr val="7C3AF2"/>
                </a:solidFill>
                <a:latin typeface="Calibri"/>
              </a:rPr>
              <a:t>REQUEST_MORE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182112"/>
            <a:ext cx="10058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>
                <a:solidFill>
                  <a:srgbClr val="758599"/>
                </a:solidFill>
                <a:latin typeface="Calibri"/>
              </a:rPr>
              <a:t>2 credentials in 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61104"/>
            <a:ext cx="83210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22960" y="4425696"/>
            <a:ext cx="7498079" cy="283464"/>
          </a:xfrm>
          <a:prstGeom prst="roundRect">
            <a:avLst/>
          </a:prstGeom>
          <a:solidFill>
            <a:srgbClr val="EAF1FA"/>
          </a:solidFill>
          <a:ln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19" b="1" dirty="0">
                <a:solidFill>
                  <a:srgbClr val="FF0000"/>
                </a:solidFill>
                <a:latin typeface="Calibri"/>
              </a:rPr>
              <a:t>set enumeration</a:t>
            </a:r>
            <a:r>
              <a:rPr sz="1019" b="1" dirty="0">
                <a:solidFill>
                  <a:srgbClr val="1C2A39"/>
                </a:solidFill>
                <a:latin typeface="Calibri"/>
              </a:rPr>
              <a:t>  →  type identification  →  verifier determination  →  result normalization  →  decision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364" y="438912"/>
            <a:ext cx="5943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C2A39"/>
                </a:solidFill>
                <a:latin typeface="Calibri"/>
              </a:rPr>
              <a:t>Implementation: identify credential 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80960" y="457200"/>
            <a:ext cx="960120" cy="411480"/>
          </a:xfrm>
          <a:prstGeom prst="roundRect">
            <a:avLst/>
          </a:prstGeom>
          <a:solidFill>
            <a:srgbClr val="F1F4F8"/>
          </a:solidFill>
          <a:ln>
            <a:solidFill>
              <a:srgbClr val="C4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C2A39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2364" y="847183"/>
            <a:ext cx="6979026" cy="3939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 dirty="0">
                <a:solidFill>
                  <a:srgbClr val="39465A"/>
                </a:solidFill>
                <a:latin typeface="Calibri"/>
              </a:rPr>
              <a:t>The type identification step happens after the credential set is enumerated and before verifier selection. </a:t>
            </a:r>
            <a:endParaRPr lang="en-US" sz="1280" b="0" i="0" dirty="0">
              <a:solidFill>
                <a:srgbClr val="39465A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1280" b="0" i="0" dirty="0">
                <a:solidFill>
                  <a:srgbClr val="39465A"/>
                </a:solidFill>
                <a:latin typeface="Calibri"/>
              </a:rPr>
              <a:t>The demo exposes the identified types for each credential.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28616"/>
            <a:ext cx="19202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828EA0"/>
                </a:solidFill>
                <a:latin typeface="Calibri"/>
              </a:rPr>
              <a:t>IETF126 - Hackathon - Talk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928616"/>
            <a:ext cx="20116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80">
                <a:solidFill>
                  <a:srgbClr val="828EA0"/>
                </a:solidFill>
                <a:latin typeface="Calibri"/>
              </a:rPr>
              <a:t>4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94792D-8C58-45A0-90DD-915D3765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58" y="1274381"/>
            <a:ext cx="6509500" cy="3276395"/>
          </a:xfrm>
          <a:prstGeom prst="rect">
            <a:avLst/>
          </a:prstGeom>
        </p:spPr>
      </p:pic>
      <p:sp>
        <p:nvSpPr>
          <p:cNvPr id="24" name="Shape 0">
            <a:extLst>
              <a:ext uri="{FF2B5EF4-FFF2-40B4-BE49-F238E27FC236}">
                <a16:creationId xmlns:a16="http://schemas.microsoft.com/office/drawing/2014/main" id="{E72C56C4-551D-4F9C-A3BD-C80752AA7A6E}"/>
              </a:ext>
            </a:extLst>
          </p:cNvPr>
          <p:cNvSpPr/>
          <p:nvPr/>
        </p:nvSpPr>
        <p:spPr>
          <a:xfrm>
            <a:off x="0" y="0"/>
            <a:ext cx="9144000" cy="237744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Rounded Rectangle 31">
            <a:extLst>
              <a:ext uri="{FF2B5EF4-FFF2-40B4-BE49-F238E27FC236}">
                <a16:creationId xmlns:a16="http://schemas.microsoft.com/office/drawing/2014/main" id="{AFDEF877-CBAB-485F-9D67-D31952042790}"/>
              </a:ext>
            </a:extLst>
          </p:cNvPr>
          <p:cNvSpPr/>
          <p:nvPr/>
        </p:nvSpPr>
        <p:spPr>
          <a:xfrm>
            <a:off x="617069" y="4584020"/>
            <a:ext cx="7498079" cy="283464"/>
          </a:xfrm>
          <a:prstGeom prst="roundRect">
            <a:avLst/>
          </a:prstGeom>
          <a:solidFill>
            <a:srgbClr val="EAF1FA"/>
          </a:solidFill>
          <a:ln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19" b="1" dirty="0">
                <a:solidFill>
                  <a:schemeClr val="tx1"/>
                </a:solidFill>
                <a:latin typeface="Calibri"/>
              </a:rPr>
              <a:t>set enumeration  </a:t>
            </a:r>
            <a:r>
              <a:rPr sz="1019" b="1" dirty="0">
                <a:solidFill>
                  <a:srgbClr val="1C2A39"/>
                </a:solidFill>
                <a:latin typeface="Calibri"/>
              </a:rPr>
              <a:t>→  </a:t>
            </a:r>
            <a:r>
              <a:rPr sz="1019" b="1" dirty="0">
                <a:solidFill>
                  <a:srgbClr val="FF0000"/>
                </a:solidFill>
                <a:latin typeface="Calibri"/>
              </a:rPr>
              <a:t>type identification  →  verifier determination</a:t>
            </a:r>
            <a:r>
              <a:rPr sz="1019" b="1" dirty="0">
                <a:solidFill>
                  <a:srgbClr val="1C2A39"/>
                </a:solidFill>
                <a:latin typeface="Calibri"/>
              </a:rPr>
              <a:t>  →  result normalization  →  decision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680960" y="457200"/>
            <a:ext cx="960120" cy="402336"/>
          </a:xfrm>
          <a:prstGeom prst="roundRect">
            <a:avLst>
              <a:gd name="adj" fmla="val 18182"/>
            </a:avLst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680960" y="45720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IETF126 - Hackathon - Talk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80">
                <a:solidFill>
                  <a:srgbClr val="828EA0"/>
                </a:solidFill>
                <a:latin typeface="Calibri"/>
              </a:rPr>
              <a:t>5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4389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300" b="1">
                <a:solidFill>
                  <a:srgbClr val="1C2B3A"/>
                </a:solidFill>
                <a:latin typeface="Calibri"/>
              </a:rPr>
              <a:t>Implementation: native checks, common results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dirty="0">
                <a:solidFill>
                  <a:srgbClr val="3C4657"/>
                </a:solidFill>
                <a:latin typeface="Calibri"/>
              </a:rPr>
              <a:t>Credentials keep their native formats. Each verifier reports a common result — valid, invalid, or indeterminate — and the decision policy reads the combined result set.</a:t>
            </a:r>
            <a:endParaRPr lang="en-US" sz="1300" dirty="0"/>
          </a:p>
        </p:txBody>
      </p:sp>
      <p:pic>
        <p:nvPicPr>
          <p:cNvPr id="10" name="Image 0" descr="C:\Users\Architect117\AppData\Local\Temp\claude\C--Users-Architect117-Heterogeneous-Credential-Verifier-and-Aggregator--claude-worktrees-wonderful-ride-dc9987\bec2816e-37be-431f-887f-0cee765fc7ef\scratchpad\deck\img\03c-aggregate-ac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7" y="1845332"/>
            <a:ext cx="5185361" cy="15760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174389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50" i="1">
                <a:solidFill>
                  <a:srgbClr val="3C4657"/>
                </a:solidFill>
                <a:latin typeface="Calibri"/>
              </a:rPr>
              <a:t>The run checks EdDSA signatures, JWKS keys, X.509 chains, and status lists. An indeterminate credential is not counted as valid.</a:t>
            </a:r>
            <a:endParaRPr lang="en-US" sz="1150" dirty="0"/>
          </a:p>
        </p:txBody>
      </p:sp>
      <p:sp>
        <p:nvSpPr>
          <p:cNvPr id="16" name="Rounded Rectangle 31">
            <a:extLst>
              <a:ext uri="{FF2B5EF4-FFF2-40B4-BE49-F238E27FC236}">
                <a16:creationId xmlns:a16="http://schemas.microsoft.com/office/drawing/2014/main" id="{77B8ED1B-DB5D-45DD-9F46-C5C51D845D8E}"/>
              </a:ext>
            </a:extLst>
          </p:cNvPr>
          <p:cNvSpPr/>
          <p:nvPr/>
        </p:nvSpPr>
        <p:spPr>
          <a:xfrm>
            <a:off x="644774" y="4476141"/>
            <a:ext cx="7498079" cy="283464"/>
          </a:xfrm>
          <a:prstGeom prst="roundRect">
            <a:avLst/>
          </a:prstGeom>
          <a:solidFill>
            <a:srgbClr val="EAF1FA"/>
          </a:solidFill>
          <a:ln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19" b="1" dirty="0">
                <a:solidFill>
                  <a:schemeClr val="tx1"/>
                </a:solidFill>
                <a:latin typeface="Calibri"/>
              </a:rPr>
              <a:t>set enumeration  </a:t>
            </a:r>
            <a:r>
              <a:rPr sz="1019" b="1" dirty="0">
                <a:solidFill>
                  <a:srgbClr val="1C2A39"/>
                </a:solidFill>
                <a:latin typeface="Calibri"/>
              </a:rPr>
              <a:t>→  </a:t>
            </a:r>
            <a:r>
              <a:rPr sz="1019" b="1" dirty="0">
                <a:solidFill>
                  <a:schemeClr val="tx1"/>
                </a:solidFill>
                <a:latin typeface="Calibri"/>
              </a:rPr>
              <a:t>type identification  →  verifier determination</a:t>
            </a:r>
            <a:r>
              <a:rPr sz="1019" b="1" dirty="0">
                <a:solidFill>
                  <a:srgbClr val="1C2A39"/>
                </a:solidFill>
                <a:latin typeface="Calibri"/>
              </a:rPr>
              <a:t>  →  </a:t>
            </a:r>
            <a:r>
              <a:rPr sz="1019" b="1" dirty="0">
                <a:solidFill>
                  <a:srgbClr val="FF0000"/>
                </a:solidFill>
                <a:latin typeface="Calibri"/>
              </a:rPr>
              <a:t>result normalization  →  decision policy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A89AD9-3277-4B8F-8D36-8B581C9E15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96" r="44106"/>
          <a:stretch/>
        </p:blipFill>
        <p:spPr>
          <a:xfrm>
            <a:off x="5292598" y="1477278"/>
            <a:ext cx="3530454" cy="2345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26680" y="457200"/>
            <a:ext cx="914400" cy="402336"/>
          </a:xfrm>
          <a:prstGeom prst="roundRect">
            <a:avLst>
              <a:gd name="adj" fmla="val 18182"/>
            </a:avLst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726680" y="4572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2E4057"/>
                </a:solidFill>
                <a:latin typeface="Calibri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IETF126 - Hackathon - Talk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80">
                <a:solidFill>
                  <a:srgbClr val="828EA0"/>
                </a:solidFill>
                <a:latin typeface="Calibri"/>
              </a:rPr>
              <a:t>6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4389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>
                <a:solidFill>
                  <a:srgbClr val="1C2B3A"/>
                </a:solidFill>
                <a:latin typeface="Calibri"/>
              </a:rPr>
              <a:t>Thank you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3977640" cy="210312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1C2B3A"/>
                </a:solidFill>
                <a:latin typeface="Calibri"/>
              </a:rPr>
              <a:t>Why this helps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77640" cy="210312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46320" y="1353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1C2B3A"/>
                </a:solidFill>
                <a:latin typeface="Calibri"/>
              </a:rPr>
              <a:t>Continue the conversation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85916"/>
            <a:ext cx="3611880" cy="118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050" b="0" dirty="0">
                <a:solidFill>
                  <a:srgbClr val="3C4657"/>
                </a:solidFill>
                <a:latin typeface="Calibri"/>
              </a:rPr>
              <a:t>Feedback: outcomes, indeterminate results, and vocabulary for opaque credential types.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sz="1050" b="0" dirty="0">
                <a:solidFill>
                  <a:srgbClr val="0563C1"/>
                </a:solidFill>
                <a:latin typeface="Calibri"/>
                <a:hlinkClick r:id="rId3"/>
              </a:rPr>
              <a:t>draft-jiang-</a:t>
            </a:r>
            <a:r>
              <a:rPr sz="1050" b="0" dirty="0" err="1">
                <a:solidFill>
                  <a:srgbClr val="0563C1"/>
                </a:solidFill>
                <a:latin typeface="Calibri"/>
                <a:hlinkClick r:id="rId3"/>
              </a:rPr>
              <a:t>wimse</a:t>
            </a:r>
            <a:r>
              <a:rPr sz="1050" b="0" dirty="0">
                <a:solidFill>
                  <a:srgbClr val="0563C1"/>
                </a:solidFill>
                <a:latin typeface="Calibri"/>
                <a:hlinkClick r:id="rId3"/>
              </a:rPr>
              <a:t>-heterogeneous-credential</a:t>
            </a:r>
          </a:p>
          <a:p>
            <a:pPr>
              <a:spcAft>
                <a:spcPts val="200"/>
              </a:spcAft>
            </a:pPr>
            <a:r>
              <a:rPr sz="1050" b="0" dirty="0">
                <a:solidFill>
                  <a:srgbClr val="0563C1"/>
                </a:solidFill>
                <a:latin typeface="Calibri"/>
                <a:hlinkClick r:id="rId4"/>
              </a:rPr>
              <a:t>draft repo — agent-security-labs/</a:t>
            </a:r>
            <a:r>
              <a:rPr sz="1050" b="0" dirty="0" err="1">
                <a:solidFill>
                  <a:srgbClr val="0563C1"/>
                </a:solidFill>
                <a:latin typeface="Calibri"/>
                <a:hlinkClick r:id="rId4"/>
              </a:rPr>
              <a:t>wimse</a:t>
            </a:r>
            <a:r>
              <a:rPr sz="1050" b="0" dirty="0">
                <a:solidFill>
                  <a:srgbClr val="0563C1"/>
                </a:solidFill>
                <a:latin typeface="Calibri"/>
                <a:hlinkClick r:id="rId4"/>
              </a:rPr>
              <a:t>-heterogeneous-credential-draft</a:t>
            </a: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8E77B1C-2A00-4C18-B651-BA2F38F4519A}"/>
              </a:ext>
            </a:extLst>
          </p:cNvPr>
          <p:cNvSpPr/>
          <p:nvPr/>
        </p:nvSpPr>
        <p:spPr>
          <a:xfrm>
            <a:off x="502920" y="1700784"/>
            <a:ext cx="39776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dirty="0">
                <a:latin typeface="Calibri"/>
              </a:rPr>
              <a:t>Makes the full credential set visible, including credentials carried by value or by reference.</a:t>
            </a:r>
            <a:endParaRPr lang="en-US" sz="1100" dirty="0"/>
          </a:p>
          <a:p>
            <a:pPr marL="171450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Routes each credential to the right verifier, then normalizes the results into one comparable model.</a:t>
            </a:r>
          </a:p>
          <a:p>
            <a:pPr marL="171450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Enables cross-credential decisions, instead of each deployment using its own logic.</a:t>
            </a:r>
            <a:endParaRPr sz="1100" b="0" dirty="0">
              <a:solidFill>
                <a:srgbClr val="3C4657"/>
              </a:solidFill>
              <a:latin typeface="Calibri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AA7FE19-59E3-4F32-B155-D688371FDCDF}"/>
              </a:ext>
            </a:extLst>
          </p:cNvPr>
          <p:cNvSpPr/>
          <p:nvPr/>
        </p:nvSpPr>
        <p:spPr>
          <a:xfrm>
            <a:off x="4846320" y="276767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94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demo binaries: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89C665-A929-4F55-AD92-6B37E62A2789}"/>
              </a:ext>
            </a:extLst>
          </p:cNvPr>
          <p:cNvSpPr txBox="1"/>
          <p:nvPr/>
        </p:nvSpPr>
        <p:spPr>
          <a:xfrm>
            <a:off x="6020210" y="2545001"/>
            <a:ext cx="4663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u="sng" dirty="0">
                <a:solidFill>
                  <a:srgbClr val="0066CC"/>
                </a:solidFill>
                <a:latin typeface="Arial"/>
                <a:hlinkClick r:id="rId5"/>
              </a:rPr>
              <a:t>Windows — tool2-demo-windows.exe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1112C6-3240-49E1-BB3A-DD557B0E2DED}"/>
              </a:ext>
            </a:extLst>
          </p:cNvPr>
          <p:cNvSpPr txBox="1"/>
          <p:nvPr/>
        </p:nvSpPr>
        <p:spPr>
          <a:xfrm>
            <a:off x="6020210" y="2773601"/>
            <a:ext cx="4663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u="sng" dirty="0">
                <a:solidFill>
                  <a:srgbClr val="0066CC"/>
                </a:solidFill>
                <a:latin typeface="Arial"/>
                <a:hlinkClick r:id="rId6"/>
              </a:rPr>
              <a:t>macOS — tool2-demo-macos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3B78A5-0D87-4A2E-BEC1-04B8EA038F71}"/>
              </a:ext>
            </a:extLst>
          </p:cNvPr>
          <p:cNvSpPr txBox="1"/>
          <p:nvPr/>
        </p:nvSpPr>
        <p:spPr>
          <a:xfrm>
            <a:off x="6020210" y="3002201"/>
            <a:ext cx="4663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u="sng" dirty="0">
                <a:solidFill>
                  <a:srgbClr val="0066CC"/>
                </a:solidFill>
                <a:latin typeface="Arial"/>
                <a:hlinkClick r:id="rId7"/>
              </a:rPr>
              <a:t>Linux — tool2-demo-linux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552</Words>
  <Application>Microsoft Office PowerPoint</Application>
  <PresentationFormat>On-screen Show (16:9)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Heterogeneous Credential Verification — IETF 126 Hackathon</dc:title>
  <dc:subject>PptxGenJS Presentation</dc:subject>
  <dc:creator>Jiang Yuning</dc:creator>
  <cp:lastModifiedBy>tuyaowei</cp:lastModifiedBy>
  <cp:revision>5</cp:revision>
  <dcterms:created xsi:type="dcterms:W3CDTF">2026-07-02T05:49:56Z</dcterms:created>
  <dcterms:modified xsi:type="dcterms:W3CDTF">2026-07-02T08:29:56Z</dcterms:modified>
</cp:coreProperties>
</file>